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B86"/>
    <a:srgbClr val="1E2261"/>
    <a:srgbClr val="AE56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78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07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60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86868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Training Needs Assessment (TNA)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annual TNA cycle (April-1, Feed all training)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4C7A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submit unit-level training needs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8FB89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self-nominate training needs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 gaps from PMS (appraisal)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competency gap scores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needs: Critical / High / Medium / Low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73177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89636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Bank-wide TNA register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56717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6717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69773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05206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1665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mode: Classroom / E-Learning / Blended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88746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8746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01802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37235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53694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Approve: PPDD Director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20775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0775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33831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969264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985723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approved TNA register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952804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52804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86868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Annual L&amp;D Plan &amp; Calendar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Annual L&amp;D Calendar from TNA (ADD, Input)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Annual Training Calendar (Director PPDD)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approved Plan &amp; Calendar; activate downstream workflows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86868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— Training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RFP Design and Upload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Align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Approve: Director PPDD → CPCO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revision if required; track resubmission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Annual L&amp;D Plan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Track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86868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and Cost Approval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481328"/>
            <a:ext cx="1801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Program Cost (Venue/Hotel, Trainer, Material)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Cost Estimate against approved annual L &amp; 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 smtClean="0"/>
              <a:t>Finance Verify budget availability and Cost Center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Budget Release: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PPDD → CPCO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Approved Budget against the Programs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6639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Vendor, Venue &amp; Hotel Sourcing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requests, hotel / venue requests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delivery source: Internal / Local / International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Venue Requirement Spec (venue / hotel needs)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Venue Requirement Spec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venue / hotel selection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Hotel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RFP / Bid Request to vendors &amp; hotels (Upload) and Notify with email for Bids to upload them also proposal with link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73177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AE565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89636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technical + financial proposals (sealed) (Upload)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56717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6717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69773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05206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1665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for Evaluate &amp; score proposals (weighted criteria)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88746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8746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01802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37235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53694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Vendor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20775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0775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33831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969264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985723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Vendor (Date for agreement, detail content)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952804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52804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Scheduling &amp; Arrangements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confirmed vendor/venue into a bookable session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training session: date, time, duration, location, recurrence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venue/room with capacity validation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trainer(s) with availability conflict check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batch/cohort with configurable max capacity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training materials ready (Director PPDD approval)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Reschedule/cancel session if needed; auto-notify participants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73177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89636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confirmed schedule; feed into Announcement stage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56717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6717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Nomination, Approval &amp; Enrollment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confirmed sessions to eligible, approved employees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&amp; D initiate for nomination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4C7A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nominates employees for a scheduled session (TNA-based)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approves ad-hoc nominations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 workflow: Line Manager → L&amp;D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nominees &amp; managers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Announcement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ERP-driven confirmation and notification before delivery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trainer, venue &amp; materials readiness before publishing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session details to confirmed participants (date/time/venue)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calendar invites &amp; pre-reading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trainer &amp; venue/hotel of finalized headcount and logistics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Line Managers of confirmed attendance for coverage planning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automated reminder(s) ahead of session start (configurable)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73177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89636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L&amp;D if acknowledgment/confirmation is not received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56717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6717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8 — Training Delivery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session and capturing what happened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final participant list; check-in employees on session day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AE565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delivers session; record daily attendance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minimum attendance threshold (default 80%) for eligibility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AE565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pre-/post-training assessment scores per participant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8FB89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daily participant feedback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86868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9 — Evaluation &amp;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– Reaction: auto-distribute survey post-session (7 days)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– Learning: pre/post assessment scoring vs. pass/fail threshold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4C7A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– Behavior: delayed (30/60/90-day) on-the-job observation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– Business Impact: tag program to related KPI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L1-L4 results into a Training Impact Assessment report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73177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E8A1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89636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Team Leader validates the consolidated impact report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56717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6717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69773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05206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1665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evaluation instruments &amp; questionnaires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88746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8746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10 — Completion &amp; Certification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from attendance to permanent record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attendance &amp; passing score against certification rule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/ upload certificate of completion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certificate to Employee module; attach to profile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per-employee classroom training history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8FB89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history accessible to Employee, Manager &amp; L&amp;D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completion record into competency profile for next TNA cycle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65992" cy="1051560"/>
          </a:xfrm>
          <a:prstGeom prst="rect">
            <a:avLst/>
          </a:prstGeom>
          <a:solidFill>
            <a:srgbClr val="17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00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</a:t>
            </a: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Closure and Vendor Review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96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 smtClean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AE565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Vendor/Hotel Submit invoice with attendance and delivery Poof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3177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AE5652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9636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&amp;D verifies invoices against contracted scope and attendance record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717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717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773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5206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665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Process Payment-Settles invoice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746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746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802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7235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226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694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Rates Vendor/Trainer Performance (Scorecard)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0775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775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8310" y="1664208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92640" y="148132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16459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Vendor Performance History for future sourcing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12710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" y="23957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1148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7607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Reconcile actual spend Vs Budget report variable to Finance and PPDD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4688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68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3246120"/>
            <a:ext cx="3543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731770" y="3063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0C7B86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896362" y="3227832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Program Finance and compliance records for audit. 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567178" y="28529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2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6717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5824728"/>
            <a:ext cx="11365992" cy="0"/>
          </a:xfrm>
          <a:prstGeom prst="line">
            <a:avLst/>
          </a:prstGeom>
          <a:noFill/>
          <a:ln w="12700">
            <a:solidFill>
              <a:srgbClr val="D8DA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5989320"/>
            <a:ext cx="201168" cy="201168"/>
          </a:xfrm>
          <a:prstGeom prst="rect">
            <a:avLst/>
          </a:prstGeom>
          <a:solidFill>
            <a:srgbClr val="8FB89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4088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600200" y="5989320"/>
            <a:ext cx="201168" cy="201168"/>
          </a:xfrm>
          <a:prstGeom prst="rect">
            <a:avLst/>
          </a:prstGeom>
          <a:solidFill>
            <a:srgbClr val="4C7A9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892808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Supervisor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11880" y="5989320"/>
            <a:ext cx="201168" cy="201168"/>
          </a:xfrm>
          <a:prstGeom prst="rect">
            <a:avLst/>
          </a:prstGeom>
          <a:solidFill>
            <a:srgbClr val="1E226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904488" y="5943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/ PPDD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937760" y="5989320"/>
            <a:ext cx="201168" cy="201168"/>
          </a:xfrm>
          <a:prstGeom prst="rect">
            <a:avLst/>
          </a:prstGeom>
          <a:solidFill>
            <a:srgbClr val="BE8A1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230368" y="5943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12280" y="5989320"/>
            <a:ext cx="201168" cy="201168"/>
          </a:xfrm>
          <a:prstGeom prst="rect">
            <a:avLst/>
          </a:prstGeom>
          <a:solidFill>
            <a:srgbClr val="AE565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04888" y="5943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Trainer / Hotel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98280" y="5989320"/>
            <a:ext cx="201168" cy="201168"/>
          </a:xfrm>
          <a:prstGeom prst="rect">
            <a:avLst/>
          </a:prstGeom>
          <a:solidFill>
            <a:srgbClr val="0C7B8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390888" y="5943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(Automated)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41148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Development System (EDS) — Classroom Training Lifecycle Roadmap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1228832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0696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1264</Words>
  <Application>Microsoft Office PowerPoint</Application>
  <PresentationFormat>Widescreen</PresentationFormat>
  <Paragraphs>350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Tekilew Zewdu Gizaw</cp:lastModifiedBy>
  <cp:revision>7</cp:revision>
  <dcterms:created xsi:type="dcterms:W3CDTF">2026-09-04T08:25:52Z</dcterms:created>
  <dcterms:modified xsi:type="dcterms:W3CDTF">2026-09-04T10:12:55Z</dcterms:modified>
</cp:coreProperties>
</file>